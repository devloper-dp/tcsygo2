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A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4114-EFEE-9653-CAF4-6A95F29F3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7EAAD-98FE-7E6C-9F44-8FA882215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30AC2-857A-DF0E-BC15-529E0E18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2A1AF-C735-29F0-505F-D27315A7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3B7B2-1537-ED4B-CAEA-05879BF2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5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7A79-C1E1-B885-C449-B80469C5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2628-70E8-47F5-B9D7-0601A8C1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6FD4D-548D-51A8-B6E2-4F371CDE3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3028D-16EA-FC4F-0D23-1490A624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B2066-B8A8-CE58-60B9-5D3F7301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5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956F-095B-87E3-AE21-2B801B95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4B400-FCE7-D49A-DA7E-2F9B23D9A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3559E-A7C4-9322-E5B0-C89B9558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37FDC-AFDF-8D40-FEC5-B2C18CC4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88AA6-6FB1-4348-960A-D806144BD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4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6F59-3BE1-2CE8-2404-249A527C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E2B6B-A382-54B5-408D-FCA92174D0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588FE-21BD-2CEE-A6AC-5259B57E8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AA70F-443E-6828-DDD8-BC5D32ED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C803A-F624-0497-25E3-97AF5FEEC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6A30F-B605-9EE1-703C-CBF272C4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06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7AA7D-5719-3547-797A-B765F438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E9F2F-7C05-7886-89FE-74193E921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D036B-7BC4-B42B-9414-6898B4D47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121F0-BAEF-7CCD-3680-6F5B26E47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E9508B-30C4-567A-88EF-FCEAB6BBE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B4139-60FF-C377-C828-F4E74C4F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62679F-01BE-1DE7-FE32-4BF226C9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1187D-8D5E-FEC9-A3F6-CCD971D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19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4E8E-2A55-A09E-6DB3-B678BADA0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4657E-B533-A9E2-AE88-2E82B66D5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4BC4A-CDD6-1321-4197-C0BFE0AD3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CC784-1DB7-70BE-B85F-3BCCFD5F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746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783631-60A1-DCF5-56B7-95E1CDDF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95345-3F25-2A2F-9D0A-6F0294BB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E54BE-BF89-2F19-CABC-F2C29332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0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CA98F-90A3-CD8B-2860-C2B035927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A17D6-FAB3-6BB1-3023-AE1983204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D90A5-B679-E585-E232-7B986C83D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65CD1-829C-528C-F433-A77B0E28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BD847-B99C-D7E7-CCC7-9CF4B186F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B781-760E-FAE4-087D-7403A6AF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0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882F-2416-AB57-2752-DD590AB39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0D480-F0E0-BA6F-2EF2-CB6261DF5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B125B-4538-9A02-A58E-9A245623A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D011F-5589-F944-C8B8-ACBD865EC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F8B15-DAEE-0F95-CFD2-309E7B0D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0DD56-F76E-EDE6-E771-9DF7C143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69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287C-710E-AA91-07DC-1FE47DAC3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803E1-8168-0B9B-C112-F3F2D222F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6BE07-A39C-9263-79D8-38DBCF824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A1BC8-4AF6-8814-D79C-66BA4E5B7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9AC1E-6B49-B06A-89A4-83A0BDC2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13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5F51D3-7188-C41A-120D-EA6DDBDFD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E191E-5B32-75F2-8257-82F7515A2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1A22B-04D8-E42C-0835-7A928247F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05531-6AA1-E0F7-78E6-3C5A8AACE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0C73F-58F4-3091-5262-486187FD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0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F9E27-5FFD-217D-42BC-6DC9D43D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89133-AFD8-DCA4-72E4-80E45DA44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D026A-50A7-E1C1-0A87-B3CEE45D5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EFC7C-168C-48DF-9791-0DE0754F06A1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F138F-73B4-3EF4-B7E7-B9029B8DA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3522E-AEEA-AA36-DBE6-4A0CAF196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6EE5B-E7BF-4C69-8677-296D7FD08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0;p1">
            <a:extLst>
              <a:ext uri="{FF2B5EF4-FFF2-40B4-BE49-F238E27FC236}">
                <a16:creationId xmlns:a16="http://schemas.microsoft.com/office/drawing/2014/main" id="{0373763A-D983-2EF0-327D-EC09CFBE57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947916" y="122828"/>
            <a:ext cx="9007523" cy="1555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4800" b="1" dirty="0">
                <a:solidFill>
                  <a:srgbClr val="02A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Details of the Team &amp; </a:t>
            </a:r>
            <a:br>
              <a:rPr lang="en-US" sz="4800" b="1" dirty="0">
                <a:solidFill>
                  <a:srgbClr val="02A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b="1" dirty="0">
                <a:solidFill>
                  <a:srgbClr val="02A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sz="8000" dirty="0">
              <a:solidFill>
                <a:srgbClr val="02A06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Google Shape;211;p1">
            <a:extLst>
              <a:ext uri="{FF2B5EF4-FFF2-40B4-BE49-F238E27FC236}">
                <a16:creationId xmlns:a16="http://schemas.microsoft.com/office/drawing/2014/main" id="{9D720DCE-F176-7048-C912-3A5141694346}"/>
              </a:ext>
            </a:extLst>
          </p:cNvPr>
          <p:cNvSpPr txBox="1">
            <a:spLocks/>
          </p:cNvSpPr>
          <p:nvPr/>
        </p:nvSpPr>
        <p:spPr>
          <a:xfrm>
            <a:off x="322555" y="1801504"/>
            <a:ext cx="11389458" cy="46566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Organization Name:  Kuvaka Tech (OPC) Private Limited</a:t>
            </a:r>
          </a:p>
          <a:p>
            <a:pPr algn="l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PS Code: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HT-04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  <a:sym typeface="Franklin Gothic"/>
            </a:endParaRPr>
          </a:p>
          <a:p>
            <a:pPr algn="l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Problem Statement Title: </a:t>
            </a: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Development of University Dispensary Management Software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  <a:sym typeface="Franklin Gothic"/>
            </a:endParaRPr>
          </a:p>
          <a:p>
            <a:pPr algn="l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Team Name: UNI-DOC</a:t>
            </a:r>
          </a:p>
          <a:p>
            <a:pPr algn="l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Team Leader Name:  Jiya Singh</a:t>
            </a:r>
          </a:p>
          <a:p>
            <a:pPr algn="l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Institute Name: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Sanjeev Agrawal Global Educational (SAGE) University, Bhopal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Franklin Gothic"/>
            </a:endParaRPr>
          </a:p>
          <a:p>
            <a:pPr algn="l">
              <a:lnSpc>
                <a:spcPct val="200000"/>
              </a:lnSpc>
              <a:spcBef>
                <a:spcPts val="300"/>
              </a:spcBef>
              <a:spcAft>
                <a:spcPts val="300"/>
              </a:spcAft>
              <a:buClr>
                <a:schemeClr val="lt2"/>
              </a:buClr>
              <a:buSzPts val="18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Franklin Gothic"/>
              </a:rPr>
              <a:t>Theme Name: Health-Tech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02D32A-4A2E-FCB4-1324-D006DA3B6F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3" t="15206" r="9224" b="19421"/>
          <a:stretch/>
        </p:blipFill>
        <p:spPr>
          <a:xfrm>
            <a:off x="518615" y="54588"/>
            <a:ext cx="2313764" cy="185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6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97DF7B5-F1E9-5824-934E-31C8DD41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61" y="135379"/>
            <a:ext cx="5779211" cy="539649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2A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Idea/Approach Details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AF8ACC5-F9C8-F1A9-2395-A8A514647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8364" y="808522"/>
            <a:ext cx="5779211" cy="5914099"/>
          </a:xfrm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sz="2000" dirty="0"/>
              <a:t>Analyzing the problem we came across the solution of creating A centralized </a:t>
            </a:r>
            <a:r>
              <a:rPr lang="en-GB" sz="2000" b="1" dirty="0"/>
              <a:t>web application </a:t>
            </a:r>
            <a:r>
              <a:rPr lang="en-GB" sz="2000" dirty="0"/>
              <a:t>(software) along with a </a:t>
            </a:r>
            <a:r>
              <a:rPr lang="en-GB" sz="2000" b="1" dirty="0"/>
              <a:t>constructive hardware</a:t>
            </a:r>
            <a:r>
              <a:rPr lang="en-GB" sz="2000" dirty="0"/>
              <a:t>  to streamline </a:t>
            </a:r>
            <a:r>
              <a:rPr lang="en-GB" sz="2000" b="1" dirty="0"/>
              <a:t>dispensary processes</a:t>
            </a:r>
            <a:r>
              <a:rPr lang="en-GB" sz="2000" dirty="0"/>
              <a:t>, improve staff/students care, and facilitate </a:t>
            </a:r>
            <a:r>
              <a:rPr lang="en-GB" sz="2000" b="1" dirty="0"/>
              <a:t>remote consultations</a:t>
            </a:r>
            <a:r>
              <a:rPr lang="en-GB" sz="2000" dirty="0"/>
              <a:t>.</a:t>
            </a:r>
            <a:endParaRPr lang="en-US" sz="2000" dirty="0"/>
          </a:p>
          <a:p>
            <a:r>
              <a:rPr lang="en-US" sz="2000" dirty="0"/>
              <a:t>Video consultancy, E-Diagnosis, chat,  Yoga tutorial</a:t>
            </a:r>
            <a:endParaRPr lang="en-GB" sz="2000" dirty="0"/>
          </a:p>
          <a:p>
            <a:r>
              <a:rPr lang="en-GB" sz="2000" dirty="0"/>
              <a:t>Tracking entry/exit details of the staff/students using </a:t>
            </a:r>
            <a:r>
              <a:rPr lang="en-GB" sz="2000" b="1" dirty="0"/>
              <a:t>Reference ID via RFID sensor(Hardware).</a:t>
            </a:r>
          </a:p>
          <a:p>
            <a:r>
              <a:rPr lang="en-GB" sz="2000" dirty="0"/>
              <a:t>Managing records of </a:t>
            </a:r>
            <a:r>
              <a:rPr lang="en-GB" sz="2000" b="1" dirty="0"/>
              <a:t>Medicinal Transactions </a:t>
            </a:r>
            <a:r>
              <a:rPr lang="en-GB" sz="2000" dirty="0"/>
              <a:t>via </a:t>
            </a:r>
            <a:r>
              <a:rPr lang="en-GB" sz="2000" b="1" dirty="0"/>
              <a:t>Firebase database.</a:t>
            </a:r>
          </a:p>
          <a:p>
            <a:r>
              <a:rPr lang="en-GB" sz="2000" dirty="0"/>
              <a:t>E-A</a:t>
            </a:r>
            <a:r>
              <a:rPr lang="en-GB" sz="2000" b="1" dirty="0"/>
              <a:t>ppointment booking,</a:t>
            </a:r>
            <a:r>
              <a:rPr lang="en-GB" sz="2000" dirty="0"/>
              <a:t>  Customized dosage schedules, constant intake reminders.</a:t>
            </a:r>
          </a:p>
          <a:p>
            <a:r>
              <a:rPr lang="en-GB" sz="2000" dirty="0"/>
              <a:t>Ayurvedic Treatments  through</a:t>
            </a:r>
            <a:r>
              <a:rPr lang="en-GB" sz="2000" b="1" dirty="0"/>
              <a:t> User friendly interface</a:t>
            </a:r>
            <a:r>
              <a:rPr lang="en-GB" sz="2000" dirty="0"/>
              <a:t>.</a:t>
            </a:r>
          </a:p>
          <a:p>
            <a:r>
              <a:rPr lang="en-GB" sz="2000" dirty="0"/>
              <a:t>Assemblage of patient</a:t>
            </a:r>
            <a:r>
              <a:rPr lang="en-GB" sz="2000" b="1" dirty="0"/>
              <a:t> medical record</a:t>
            </a:r>
            <a:r>
              <a:rPr lang="en-GB" sz="2000" dirty="0"/>
              <a:t> &amp; Academic record </a:t>
            </a:r>
            <a:r>
              <a:rPr lang="en-GB" sz="2000" b="1" dirty="0"/>
              <a:t>via firebase database</a:t>
            </a:r>
            <a:r>
              <a:rPr lang="en-GB" sz="2000" dirty="0"/>
              <a:t>.</a:t>
            </a:r>
          </a:p>
          <a:p>
            <a:r>
              <a:rPr lang="en-GB" sz="2000" b="1" dirty="0"/>
              <a:t> AI Chatbot </a:t>
            </a:r>
            <a:r>
              <a:rPr lang="en-GB" sz="2000" dirty="0"/>
              <a:t>personal assistance , </a:t>
            </a:r>
            <a:r>
              <a:rPr lang="en-GB" sz="2000" b="1" dirty="0"/>
              <a:t>Ai report generation.</a:t>
            </a:r>
          </a:p>
          <a:p>
            <a:r>
              <a:rPr lang="en-GB" sz="2000" dirty="0"/>
              <a:t>Simultaneous transactional, medicinal </a:t>
            </a:r>
            <a:r>
              <a:rPr lang="en-GB" sz="2000" b="1" dirty="0"/>
              <a:t>notifications </a:t>
            </a:r>
            <a:r>
              <a:rPr lang="en-GB" sz="2000" dirty="0"/>
              <a:t>to parents/Guardian.</a:t>
            </a:r>
          </a:p>
          <a:p>
            <a:r>
              <a:rPr lang="en-GB" sz="2000" b="1" dirty="0"/>
              <a:t>Razorpay payment gateway </a:t>
            </a:r>
            <a:r>
              <a:rPr lang="en-GB" sz="2000" dirty="0"/>
              <a:t>for payment related services.          </a:t>
            </a:r>
          </a:p>
          <a:p>
            <a:r>
              <a:rPr lang="en-GB" sz="2000" dirty="0"/>
              <a:t>Fetch old medical history records via Digilocker(ABHA ID). </a:t>
            </a:r>
          </a:p>
          <a:p>
            <a:endParaRPr lang="en-GB" sz="2000" dirty="0"/>
          </a:p>
          <a:p>
            <a:endParaRPr lang="en-GB" sz="2000" b="1" dirty="0"/>
          </a:p>
          <a:p>
            <a:endParaRPr lang="en-GB" sz="2000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C5AF9C4E-36B7-9D2F-1E7A-1C6C7FA832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7" y="135379"/>
            <a:ext cx="5747364" cy="3329089"/>
          </a:xfrm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/>
              <a:t>Process Flow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771796F8-8DA8-A8DF-D2B9-2C2C30EBF9A4}"/>
              </a:ext>
            </a:extLst>
          </p:cNvPr>
          <p:cNvSpPr txBox="1">
            <a:spLocks/>
          </p:cNvSpPr>
          <p:nvPr/>
        </p:nvSpPr>
        <p:spPr>
          <a:xfrm>
            <a:off x="6194427" y="3590223"/>
            <a:ext cx="5747364" cy="31323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47597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F694-8368-43AB-A5A9-0644D7540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24660"/>
          </a:xfrm>
          <a:ln w="12700"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2A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Idea/Approach Details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97522-DBD0-2265-E7B1-359FD601E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567664"/>
            <a:ext cx="5183188" cy="464519"/>
          </a:xfrm>
          <a:ln w="12700"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Describe Your Dependencies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45F3E-5C71-15EC-611F-842826CEA3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0063"/>
            <a:ext cx="5183188" cy="3879600"/>
          </a:xfrm>
          <a:ln w="12700">
            <a:solidFill>
              <a:schemeClr val="tx1"/>
            </a:solidFill>
          </a:ln>
        </p:spPr>
        <p:txBody>
          <a:bodyPr numCol="2">
            <a:normAutofit lnSpcReduction="10000"/>
          </a:bodyPr>
          <a:lstStyle/>
          <a:p>
            <a:r>
              <a:rPr lang="en-US" sz="2000" dirty="0"/>
              <a:t>RFID Sensor</a:t>
            </a:r>
          </a:p>
          <a:p>
            <a:r>
              <a:rPr lang="en-US" sz="2000" dirty="0"/>
              <a:t> Django</a:t>
            </a:r>
          </a:p>
          <a:p>
            <a:r>
              <a:rPr lang="en-US" sz="2000" dirty="0"/>
              <a:t>Firebase</a:t>
            </a:r>
          </a:p>
          <a:p>
            <a:r>
              <a:rPr lang="en-US" sz="2000"/>
              <a:t>Arduino-board </a:t>
            </a:r>
            <a:endParaRPr lang="en-US" sz="2000" dirty="0"/>
          </a:p>
          <a:p>
            <a:r>
              <a:rPr lang="en-US" sz="2000" dirty="0"/>
              <a:t>Reactjs </a:t>
            </a:r>
          </a:p>
          <a:p>
            <a:r>
              <a:rPr lang="en-US" sz="2000" dirty="0"/>
              <a:t>HTML,CSS</a:t>
            </a:r>
          </a:p>
          <a:p>
            <a:r>
              <a:rPr lang="en-US" sz="2000" dirty="0"/>
              <a:t>JS, Axios</a:t>
            </a:r>
          </a:p>
          <a:p>
            <a:r>
              <a:rPr lang="en-US" sz="2000" dirty="0"/>
              <a:t>Nodejs</a:t>
            </a:r>
          </a:p>
          <a:p>
            <a:r>
              <a:rPr lang="en-US" sz="2000" dirty="0"/>
              <a:t>Python</a:t>
            </a:r>
          </a:p>
          <a:p>
            <a:r>
              <a:rPr lang="en-US" sz="2000" dirty="0"/>
              <a:t>Rest API</a:t>
            </a:r>
          </a:p>
          <a:p>
            <a:r>
              <a:rPr lang="en-US" sz="2000" dirty="0"/>
              <a:t>Razor pay Payment Gateway</a:t>
            </a:r>
          </a:p>
          <a:p>
            <a:r>
              <a:rPr lang="en-US" sz="2000" dirty="0"/>
              <a:t>Cloud  Computing</a:t>
            </a:r>
          </a:p>
          <a:p>
            <a:r>
              <a:rPr lang="en-US" sz="2000" dirty="0"/>
              <a:t>AI &amp; ML</a:t>
            </a:r>
          </a:p>
          <a:p>
            <a:r>
              <a:rPr lang="en-US" sz="2000" dirty="0"/>
              <a:t>C/C++</a:t>
            </a:r>
          </a:p>
          <a:p>
            <a:pPr marL="82550" indent="-82550"/>
            <a:r>
              <a:rPr lang="en-US" sz="2000" dirty="0"/>
              <a:t> Django Rest Framework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D2D9B-26E8-FADC-4B59-13B1DA744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67665"/>
            <a:ext cx="5157787" cy="464519"/>
          </a:xfrm>
          <a:ln w="12700"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Describe Your Use Cases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D1A03-72FA-9451-5450-D9EDDDDAE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10063"/>
            <a:ext cx="5157787" cy="3879600"/>
          </a:xfrm>
          <a:ln w="127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1800" dirty="0"/>
              <a:t>While entering/exiting the dispensary the user has to </a:t>
            </a:r>
            <a:r>
              <a:rPr lang="en-US" sz="1800" b="1" dirty="0"/>
              <a:t>scan their university id </a:t>
            </a:r>
            <a:r>
              <a:rPr lang="en-US" sz="1800" dirty="0"/>
              <a:t>at the entrance.</a:t>
            </a:r>
          </a:p>
          <a:p>
            <a:r>
              <a:rPr lang="en-US" sz="1800" b="1" dirty="0"/>
              <a:t>Online health-consultancy : </a:t>
            </a:r>
            <a:r>
              <a:rPr lang="en-US" sz="1800" dirty="0"/>
              <a:t>prescriptions , </a:t>
            </a:r>
            <a:r>
              <a:rPr lang="en-US" sz="1800" b="1" dirty="0"/>
              <a:t>appointment booking </a:t>
            </a:r>
            <a:r>
              <a:rPr lang="en-US" sz="1800" dirty="0"/>
              <a:t>, scheduled treatment via therapy sessions, </a:t>
            </a:r>
            <a:r>
              <a:rPr lang="en-US" sz="1800" b="1" dirty="0"/>
              <a:t>video conferencing</a:t>
            </a:r>
            <a:r>
              <a:rPr lang="en-US" sz="1800" dirty="0"/>
              <a:t>.</a:t>
            </a:r>
          </a:p>
          <a:p>
            <a:r>
              <a:rPr lang="en-US" sz="1800" dirty="0"/>
              <a:t>Every data is stored in the </a:t>
            </a:r>
            <a:r>
              <a:rPr lang="en-US" sz="1800" b="1" dirty="0"/>
              <a:t>database</a:t>
            </a:r>
            <a:r>
              <a:rPr lang="en-US" sz="1800" dirty="0"/>
              <a:t> for monitoring </a:t>
            </a:r>
            <a:r>
              <a:rPr lang="en-US" sz="1800" b="1" dirty="0"/>
              <a:t>health conditions </a:t>
            </a:r>
            <a:r>
              <a:rPr lang="en-US" sz="1800" dirty="0"/>
              <a:t>of individuals for </a:t>
            </a:r>
            <a:r>
              <a:rPr lang="en-US" sz="1800" b="1" dirty="0"/>
              <a:t>future consultations </a:t>
            </a:r>
            <a:r>
              <a:rPr lang="en-US" sz="1800" dirty="0"/>
              <a:t>and generation.</a:t>
            </a:r>
          </a:p>
          <a:p>
            <a:r>
              <a:rPr lang="en-US" sz="1800" dirty="0"/>
              <a:t>AI chatbot ,</a:t>
            </a:r>
            <a:r>
              <a:rPr lang="en-US" sz="1800"/>
              <a:t>report generation.</a:t>
            </a:r>
            <a:endParaRPr lang="en-US" sz="1800" dirty="0"/>
          </a:p>
          <a:p>
            <a:r>
              <a:rPr lang="en-US" sz="1800" b="1" dirty="0"/>
              <a:t>AI &amp; ML </a:t>
            </a:r>
            <a:r>
              <a:rPr lang="en-US" sz="1800" dirty="0"/>
              <a:t>is used to find out the widespread disease in that area , Such </a:t>
            </a:r>
            <a:r>
              <a:rPr lang="en-US" sz="1800" b="1" dirty="0"/>
              <a:t>that government of health ministry</a:t>
            </a:r>
            <a:r>
              <a:rPr lang="en-US" sz="1800" dirty="0"/>
              <a:t> can take actions accordingly. This can be a part </a:t>
            </a:r>
            <a:r>
              <a:rPr lang="en-US" sz="1800" b="1" dirty="0"/>
              <a:t>global cause.</a:t>
            </a:r>
          </a:p>
          <a:p>
            <a:pPr marL="0" indent="0">
              <a:buNone/>
            </a:pP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84366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845B9B44-FA80-9637-B681-733FB5C3E6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5318416"/>
              </p:ext>
            </p:extLst>
          </p:nvPr>
        </p:nvGraphicFramePr>
        <p:xfrm>
          <a:off x="609600" y="847688"/>
          <a:ext cx="10972800" cy="3559761"/>
        </p:xfrm>
        <a:graphic>
          <a:graphicData uri="http://schemas.openxmlformats.org/drawingml/2006/table">
            <a:tbl>
              <a:tblPr firstRow="1" bandRow="1"/>
              <a:tblGrid>
                <a:gridCol w="1126632">
                  <a:extLst>
                    <a:ext uri="{9D8B030D-6E8A-4147-A177-3AD203B41FA5}">
                      <a16:colId xmlns:a16="http://schemas.microsoft.com/office/drawing/2014/main" val="150478804"/>
                    </a:ext>
                  </a:extLst>
                </a:gridCol>
                <a:gridCol w="2688325">
                  <a:extLst>
                    <a:ext uri="{9D8B030D-6E8A-4147-A177-3AD203B41FA5}">
                      <a16:colId xmlns:a16="http://schemas.microsoft.com/office/drawing/2014/main" val="1652824826"/>
                    </a:ext>
                  </a:extLst>
                </a:gridCol>
                <a:gridCol w="2589195">
                  <a:extLst>
                    <a:ext uri="{9D8B030D-6E8A-4147-A177-3AD203B41FA5}">
                      <a16:colId xmlns:a16="http://schemas.microsoft.com/office/drawing/2014/main" val="2910726309"/>
                    </a:ext>
                  </a:extLst>
                </a:gridCol>
                <a:gridCol w="1799925">
                  <a:extLst>
                    <a:ext uri="{9D8B030D-6E8A-4147-A177-3AD203B41FA5}">
                      <a16:colId xmlns:a16="http://schemas.microsoft.com/office/drawing/2014/main" val="4067934518"/>
                    </a:ext>
                  </a:extLst>
                </a:gridCol>
                <a:gridCol w="2768723">
                  <a:extLst>
                    <a:ext uri="{9D8B030D-6E8A-4147-A177-3AD203B41FA5}">
                      <a16:colId xmlns:a16="http://schemas.microsoft.com/office/drawing/2014/main" val="2783791668"/>
                    </a:ext>
                  </a:extLst>
                </a:gridCol>
              </a:tblGrid>
              <a:tr h="6521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Sr. No.</a:t>
                      </a: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 of Team Member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US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Branch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Stream</a:t>
                      </a:r>
                      <a:endParaRPr lang="en-US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94901"/>
                  </a:ext>
                </a:extLst>
              </a:tr>
              <a:tr h="5815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Jiya Singh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B.Tech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 1</a:t>
                      </a:r>
                      <a:r>
                        <a:rPr lang="en-IN" baseline="30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90435"/>
                  </a:ext>
                </a:extLst>
              </a:tr>
              <a:tr h="5815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2.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Avani Dubey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B.Tech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 1</a:t>
                      </a:r>
                      <a:r>
                        <a:rPr lang="en-IN" baseline="30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38833"/>
                  </a:ext>
                </a:extLst>
              </a:tr>
              <a:tr h="5815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3.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Deepesh Parmar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B.Tech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 1</a:t>
                      </a:r>
                      <a:r>
                        <a:rPr lang="en-IN" baseline="30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35877"/>
                  </a:ext>
                </a:extLst>
              </a:tr>
              <a:tr h="5815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Sunil Gour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B.Tech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 1</a:t>
                      </a:r>
                      <a:r>
                        <a:rPr lang="en-IN" baseline="30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909498"/>
                  </a:ext>
                </a:extLst>
              </a:tr>
              <a:tr h="5815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</a:t>
                      </a:r>
                      <a:endPara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Krishna Kumar Das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B.Tech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Cse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 1</a:t>
                      </a:r>
                      <a:r>
                        <a:rPr lang="en-IN" baseline="30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81488"/>
                  </a:ext>
                </a:extLst>
              </a:tr>
            </a:tbl>
          </a:graphicData>
        </a:graphic>
      </p:graphicFrame>
      <p:sp>
        <p:nvSpPr>
          <p:cNvPr id="17" name="Title 5">
            <a:extLst>
              <a:ext uri="{FF2B5EF4-FFF2-40B4-BE49-F238E27FC236}">
                <a16:creationId xmlns:a16="http://schemas.microsoft.com/office/drawing/2014/main" id="{C2D5D246-B16F-E38F-6E03-32472E4914D6}"/>
              </a:ext>
            </a:extLst>
          </p:cNvPr>
          <p:cNvSpPr txBox="1">
            <a:spLocks/>
          </p:cNvSpPr>
          <p:nvPr/>
        </p:nvSpPr>
        <p:spPr>
          <a:xfrm>
            <a:off x="609600" y="273455"/>
            <a:ext cx="10972800" cy="539273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2A06B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Member’s Details </a:t>
            </a:r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F6595C03-326B-93D2-5309-3D4DC8C0461E}"/>
              </a:ext>
            </a:extLst>
          </p:cNvPr>
          <p:cNvSpPr txBox="1">
            <a:spLocks/>
          </p:cNvSpPr>
          <p:nvPr/>
        </p:nvSpPr>
        <p:spPr>
          <a:xfrm>
            <a:off x="609600" y="4622633"/>
            <a:ext cx="10972800" cy="539273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cap="none" dirty="0">
                <a:solidFill>
                  <a:srgbClr val="02A0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Mentor’s Details </a:t>
            </a:r>
          </a:p>
        </p:txBody>
      </p:sp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6A00BF3A-29C0-FF28-D3BD-FD22CA0D7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120184"/>
              </p:ext>
            </p:extLst>
          </p:nvPr>
        </p:nvGraphicFramePr>
        <p:xfrm>
          <a:off x="609600" y="5161906"/>
          <a:ext cx="10972800" cy="927466"/>
        </p:xfrm>
        <a:graphic>
          <a:graphicData uri="http://schemas.openxmlformats.org/drawingml/2006/table">
            <a:tbl>
              <a:tblPr firstRow="1" bandRow="1"/>
              <a:tblGrid>
                <a:gridCol w="1187260">
                  <a:extLst>
                    <a:ext uri="{9D8B030D-6E8A-4147-A177-3AD203B41FA5}">
                      <a16:colId xmlns:a16="http://schemas.microsoft.com/office/drawing/2014/main" val="388580251"/>
                    </a:ext>
                  </a:extLst>
                </a:gridCol>
                <a:gridCol w="2608446">
                  <a:extLst>
                    <a:ext uri="{9D8B030D-6E8A-4147-A177-3AD203B41FA5}">
                      <a16:colId xmlns:a16="http://schemas.microsoft.com/office/drawing/2014/main" val="2612329637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151322431"/>
                    </a:ext>
                  </a:extLst>
                </a:gridCol>
                <a:gridCol w="1925053">
                  <a:extLst>
                    <a:ext uri="{9D8B030D-6E8A-4147-A177-3AD203B41FA5}">
                      <a16:colId xmlns:a16="http://schemas.microsoft.com/office/drawing/2014/main" val="2427555731"/>
                    </a:ext>
                  </a:extLst>
                </a:gridCol>
                <a:gridCol w="2691721">
                  <a:extLst>
                    <a:ext uri="{9D8B030D-6E8A-4147-A177-3AD203B41FA5}">
                      <a16:colId xmlns:a16="http://schemas.microsoft.com/office/drawing/2014/main" val="3087537576"/>
                    </a:ext>
                  </a:extLst>
                </a:gridCol>
              </a:tblGrid>
              <a:tr h="4833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Sr. No.</a:t>
                      </a: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 of Mentor </a:t>
                      </a:r>
                      <a:endParaRPr lang="en-US"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Category</a:t>
                      </a:r>
                      <a:endParaRPr lang="en-US"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sz="18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Expertise</a:t>
                      </a:r>
                      <a:endParaRPr lang="en-US"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sz="18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Domain Experience </a:t>
                      </a:r>
                      <a:endParaRPr lang="en-US" sz="18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1E1E1E"/>
                      </a:solidFill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A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848187"/>
                  </a:ext>
                </a:extLst>
              </a:tr>
              <a:tr h="4441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1E1E1E"/>
                      </a:solidFill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Atesh Kumar Singh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Academic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AI/ML/IOT etc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ource Sans Pro"/>
                        </a:defRPr>
                      </a:lvl9pPr>
                    </a:lstStyle>
                    <a:p>
                      <a:pPr algn="l"/>
                      <a:r>
                        <a:rPr lang="en-IN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5 to 6 years 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solidFill>
                        <a:srgbClr val="1E1E1E"/>
                      </a:solidFill>
                    </a:lnR>
                    <a:lnT w="12700" cmpd="sng">
                      <a:solidFill>
                        <a:srgbClr val="1E1E1E"/>
                      </a:solidFill>
                    </a:lnT>
                    <a:lnB w="12700" cmpd="sng">
                      <a:solidFill>
                        <a:srgbClr val="1E1E1E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202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40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449</Words>
  <Application>Microsoft Office PowerPoint</Application>
  <PresentationFormat>Widescreen</PresentationFormat>
  <Paragraphs>89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Franklin Gothic</vt:lpstr>
      <vt:lpstr>Office Theme</vt:lpstr>
      <vt:lpstr>Basic Details of the Team &amp;  Problem Statement</vt:lpstr>
      <vt:lpstr>Idea/Approach Details</vt:lpstr>
      <vt:lpstr>Idea/Approach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Hariom Mewada</dc:creator>
  <cp:lastModifiedBy>Deepesh Parmar</cp:lastModifiedBy>
  <cp:revision>9</cp:revision>
  <dcterms:created xsi:type="dcterms:W3CDTF">2024-01-18T19:26:00Z</dcterms:created>
  <dcterms:modified xsi:type="dcterms:W3CDTF">2024-03-04T09:50:19Z</dcterms:modified>
</cp:coreProperties>
</file>